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1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11462-2D14-419E-B046-C86E7935452C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98937-7F84-4750-92F2-B87C985F2F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63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160"/>
            <a:ext cx="12191695" cy="6858000"/>
          </a:xfrm>
          <a:prstGeom prst="rect">
            <a:avLst/>
          </a:prstGeom>
          <a:solidFill>
            <a:srgbClr val="062D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BasisPointsImage" descr="preencoded.png"/>
          <p:cNvPicPr>
            <a:picLocks noChangeAspect="1"/>
          </p:cNvPicPr>
          <p:nvPr/>
        </p:nvPicPr>
        <p:blipFill>
          <a:blip r:embed="rId3"/>
          <a:srcRect l="31281" r="838"/>
          <a:stretch>
            <a:fillRect/>
          </a:stretch>
        </p:blipFill>
        <p:spPr>
          <a:xfrm>
            <a:off x="7410267" y="1128634"/>
            <a:ext cx="4781428" cy="46959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2436" y="514350"/>
            <a:ext cx="495287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2A5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PRIMEIRA VERSÃO DO CONTROLE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52436" y="1200150"/>
            <a:ext cx="4762381" cy="1105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5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Controle de Subprodutos</a:t>
            </a:r>
            <a:endParaRPr lang="en-US" sz="3550" dirty="0"/>
          </a:p>
        </p:txBody>
      </p:sp>
      <p:sp>
        <p:nvSpPr>
          <p:cNvPr id="10" name="Text 7"/>
          <p:cNvSpPr/>
          <p:nvPr/>
        </p:nvSpPr>
        <p:spPr>
          <a:xfrm>
            <a:off x="590535" y="2724150"/>
            <a:ext cx="4190895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 no campo + dashboard para gestão em tempo de decisão.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0535" y="3429000"/>
            <a:ext cx="876278" cy="47625"/>
          </a:xfrm>
          <a:prstGeom prst="roundRect">
            <a:avLst/>
          </a:prstGeom>
          <a:solidFill>
            <a:srgbClr val="EF4F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90535" y="4000500"/>
            <a:ext cx="1952576" cy="889000"/>
          </a:xfrm>
          <a:prstGeom prst="roundRect">
            <a:avLst/>
          </a:prstGeom>
          <a:solidFill>
            <a:srgbClr val="FFFAF0">
              <a:alpha val="9000"/>
            </a:srgbClr>
          </a:solidFill>
          <a:ln w="7620">
            <a:solidFill>
              <a:srgbClr val="FFF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2685983" y="4000500"/>
            <a:ext cx="1952576" cy="889000"/>
          </a:xfrm>
          <a:prstGeom prst="roundRect">
            <a:avLst/>
          </a:prstGeom>
          <a:solidFill>
            <a:srgbClr val="FFFAF0">
              <a:alpha val="9000"/>
            </a:srgbClr>
          </a:solidFill>
          <a:ln w="7620">
            <a:solidFill>
              <a:srgbClr val="FFF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742931" y="4152900"/>
            <a:ext cx="161921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2A5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2931" y="4400550"/>
            <a:ext cx="161921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Registro no app com evidência operacional.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838379" y="4152900"/>
            <a:ext cx="161921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2A5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GESTÃO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838379" y="4400550"/>
            <a:ext cx="161921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 para dados e pendências.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2436" y="6323648"/>
            <a:ext cx="5905352" cy="24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Piloto monitorado de subprodutos | Desenvolvido por Vinicius Dev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EF4F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m 24" descr="Vila Nova Agroindustrial">
            <a:extLst>
              <a:ext uri="{FF2B5EF4-FFF2-40B4-BE49-F238E27FC236}">
                <a16:creationId xmlns:a16="http://schemas.microsoft.com/office/drawing/2014/main" id="{5C0490DF-ECFB-1EA8-3966-BC0452A616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70" t="21482" r="8562" b="22867"/>
          <a:stretch>
            <a:fillRect/>
          </a:stretch>
        </p:blipFill>
        <p:spPr>
          <a:xfrm>
            <a:off x="9674167" y="76199"/>
            <a:ext cx="2349661" cy="90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2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tângulo 67">
            <a:extLst>
              <a:ext uri="{FF2B5EF4-FFF2-40B4-BE49-F238E27FC236}">
                <a16:creationId xmlns:a16="http://schemas.microsoft.com/office/drawing/2014/main" id="{5DB345FF-C0E5-48B5-BD0D-F9BEE800CE41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062D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C68D134D-E0DA-496D-A46E-616418ABADFF}"/>
              </a:ext>
            </a:extLst>
          </p:cNvPr>
          <p:cNvSpPr/>
          <p:nvPr/>
        </p:nvSpPr>
        <p:spPr>
          <a:xfrm>
            <a:off x="0" y="1066800"/>
            <a:ext cx="12192000" cy="50800"/>
          </a:xfrm>
          <a:prstGeom prst="rect">
            <a:avLst/>
          </a:prstGeom>
          <a:solidFill>
            <a:srgbClr val="EF4F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533387" y="209550"/>
            <a:ext cx="4762381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2A5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 DE CONTROLE OPERACIONAL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87" y="409575"/>
            <a:ext cx="8286543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Controle de Subprodutos: piloto monitorado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87" y="800100"/>
            <a:ext cx="78103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registro solto ao dashboard: app no campo, balança e gestão enxergam o mesmo dado.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4337" y="1352550"/>
            <a:ext cx="3066973" cy="4457700"/>
          </a:xfrm>
          <a:prstGeom prst="roundRect">
            <a:avLst/>
          </a:prstGeom>
          <a:solidFill>
            <a:srgbClr val="0736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14337" y="1352550"/>
            <a:ext cx="76198" cy="4457700"/>
          </a:xfrm>
          <a:prstGeom prst="rect">
            <a:avLst/>
          </a:prstGeom>
          <a:solidFill>
            <a:srgbClr val="EF4F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81030" y="1600200"/>
            <a:ext cx="247643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2A5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DECISÃO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1030" y="1866900"/>
            <a:ext cx="2381190" cy="86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Aprovar o MVP como piloto monitorado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81030" y="2857500"/>
            <a:ext cx="236214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06/07: teste em campo. 17/07: entrada planejada com rotina validada.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1030" y="3714750"/>
            <a:ext cx="1142971" cy="1047750"/>
          </a:xfrm>
          <a:prstGeom prst="round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038299" y="3714750"/>
            <a:ext cx="1142971" cy="1047750"/>
          </a:xfrm>
          <a:prstGeom prst="roundRect">
            <a:avLst/>
          </a:prstGeom>
          <a:solidFill>
            <a:srgbClr val="F2A51A">
              <a:alpha val="16000"/>
            </a:srgbClr>
          </a:solidFill>
          <a:ln w="7620">
            <a:solidFill>
              <a:srgbClr val="F2A5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95328" y="3857625"/>
            <a:ext cx="914377" cy="20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5328" y="4124325"/>
            <a:ext cx="876278" cy="449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controle central e sem dados visíveis.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52596" y="3857625"/>
            <a:ext cx="914377" cy="20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52596" y="4124325"/>
            <a:ext cx="876278" cy="449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App, dashboard e pendências rastreáveis.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1030" y="5029200"/>
            <a:ext cx="238119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2A5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Menos relato. Mais evidência operacional.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05152" y="1371600"/>
            <a:ext cx="6667333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6B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PONTOS POSITIVOS DA APLICAÇÃO E CONTROLE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05152" y="1600200"/>
            <a:ext cx="7667433" cy="30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21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piloto cria controle e dados visíveis para gestão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05152" y="2076450"/>
            <a:ext cx="3733707" cy="838200"/>
          </a:xfrm>
          <a:prstGeom prst="roundRect">
            <a:avLst/>
          </a:prstGeom>
          <a:solidFill>
            <a:srgbClr val="FFFAF2"/>
          </a:solidFill>
          <a:ln w="7620">
            <a:solidFill>
              <a:srgbClr val="DDD3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905152" y="2238375"/>
            <a:ext cx="47624" cy="514350"/>
          </a:xfrm>
          <a:prstGeom prst="rect">
            <a:avLst/>
          </a:prstGeom>
          <a:solidFill>
            <a:srgbClr val="EF4F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114697" y="2209800"/>
            <a:ext cx="3219370" cy="21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21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Rastreabilidade ponta a ponta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697" y="2466975"/>
            <a:ext cx="3162221" cy="17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260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Motorista, placa, ticket, GPS, fazenda e subproduto juntos.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24602" y="2076450"/>
            <a:ext cx="3733707" cy="838200"/>
          </a:xfrm>
          <a:prstGeom prst="roundRect">
            <a:avLst/>
          </a:prstGeom>
          <a:solidFill>
            <a:srgbClr val="FFFAF2"/>
          </a:solidFill>
          <a:ln w="7620">
            <a:solidFill>
              <a:srgbClr val="DDD3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7924602" y="2238375"/>
            <a:ext cx="47624" cy="514350"/>
          </a:xfrm>
          <a:prstGeom prst="rect">
            <a:avLst/>
          </a:prstGeom>
          <a:solidFill>
            <a:srgbClr val="0A6B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8134147" y="2209800"/>
            <a:ext cx="3219370" cy="21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21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Exibição de dados para gestão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34147" y="2466975"/>
            <a:ext cx="3162221" cy="17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260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Viagens, volumes, pendências e filtros no dashboard.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905152" y="3028950"/>
            <a:ext cx="3733707" cy="838200"/>
          </a:xfrm>
          <a:prstGeom prst="roundRect">
            <a:avLst/>
          </a:prstGeom>
          <a:solidFill>
            <a:srgbClr val="FFFAF2"/>
          </a:solidFill>
          <a:ln w="7620">
            <a:solidFill>
              <a:srgbClr val="DDD3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905152" y="3190875"/>
            <a:ext cx="47624" cy="514350"/>
          </a:xfrm>
          <a:prstGeom prst="rect">
            <a:avLst/>
          </a:prstGeom>
          <a:solidFill>
            <a:srgbClr val="F2A5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114697" y="3162300"/>
            <a:ext cx="3219370" cy="21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21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Conferência mais rápida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114697" y="3419475"/>
            <a:ext cx="3162221" cy="17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260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Balança x campo mostra divergências e reduz retrabalho.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924602" y="3028950"/>
            <a:ext cx="3733707" cy="838200"/>
          </a:xfrm>
          <a:prstGeom prst="roundRect">
            <a:avLst/>
          </a:prstGeom>
          <a:solidFill>
            <a:srgbClr val="FFFAF2"/>
          </a:solidFill>
          <a:ln w="7620">
            <a:solidFill>
              <a:srgbClr val="DDD3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7924602" y="3190875"/>
            <a:ext cx="47624" cy="514350"/>
          </a:xfrm>
          <a:prstGeom prst="rect">
            <a:avLst/>
          </a:prstGeom>
          <a:solidFill>
            <a:srgbClr val="0D4D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8134147" y="3162300"/>
            <a:ext cx="3219370" cy="21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21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Controle preventivo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134147" y="3419475"/>
            <a:ext cx="3162221" cy="17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260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Pendências aparecem cedo e facilitam a correção.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05152" y="4095750"/>
            <a:ext cx="285742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6B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FLUXO CORRIGIDO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905152" y="5143500"/>
            <a:ext cx="380990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6B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CRONOGRAMA DE IMPLANTAÇÃO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905152" y="5372100"/>
            <a:ext cx="1866853" cy="762000"/>
          </a:xfrm>
          <a:prstGeom prst="roundRect">
            <a:avLst/>
          </a:prstGeom>
          <a:solidFill>
            <a:srgbClr val="073624"/>
          </a:solidFill>
          <a:ln w="7620">
            <a:solidFill>
              <a:srgbClr val="0736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4038499" y="5467350"/>
            <a:ext cx="1428714" cy="25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A5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06/07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038499" y="5762625"/>
            <a:ext cx="1428714" cy="17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no campo.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876778" y="5372100"/>
            <a:ext cx="1866853" cy="762000"/>
          </a:xfrm>
          <a:prstGeom prst="roundRect">
            <a:avLst/>
          </a:prstGeom>
          <a:solidFill>
            <a:srgbClr val="FFFAF2"/>
          </a:solidFill>
          <a:ln w="7620">
            <a:solidFill>
              <a:srgbClr val="DDD3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6010125" y="5467350"/>
            <a:ext cx="1428714" cy="25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F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07–10/07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010125" y="5762625"/>
            <a:ext cx="1428714" cy="17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5D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Ajustes app + painel.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848404" y="5372100"/>
            <a:ext cx="1866853" cy="762000"/>
          </a:xfrm>
          <a:prstGeom prst="roundRect">
            <a:avLst/>
          </a:prstGeom>
          <a:solidFill>
            <a:srgbClr val="FFFAF2"/>
          </a:solidFill>
          <a:ln w="7620">
            <a:solidFill>
              <a:srgbClr val="DDD3C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7981750" y="5467350"/>
            <a:ext cx="1428714" cy="25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F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11–15/07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981750" y="5762625"/>
            <a:ext cx="1428714" cy="17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5D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Validação dos dados.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810505" y="5372100"/>
            <a:ext cx="1847804" cy="762000"/>
          </a:xfrm>
          <a:prstGeom prst="roundRect">
            <a:avLst/>
          </a:prstGeom>
          <a:solidFill>
            <a:srgbClr val="073624"/>
          </a:solidFill>
          <a:ln w="7620">
            <a:solidFill>
              <a:srgbClr val="0736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9943851" y="5467350"/>
            <a:ext cx="1428714" cy="25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A5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17/07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9943851" y="5762625"/>
            <a:ext cx="1428714" cy="17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A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Entrada em ação.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4350" y="6515100"/>
            <a:ext cx="1117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078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Base: fluxo operacional informado pela equipe. | Desenvolvido por Vinicius Dev</a:t>
            </a:r>
            <a:endParaRPr lang="en-US" sz="800" dirty="0"/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1F75657E-0ADF-4270-8B13-7F2452E600CE}"/>
              </a:ext>
            </a:extLst>
          </p:cNvPr>
          <p:cNvSpPr/>
          <p:nvPr/>
        </p:nvSpPr>
        <p:spPr>
          <a:xfrm>
            <a:off x="3905250" y="4324350"/>
            <a:ext cx="7753350" cy="711200"/>
          </a:xfrm>
          <a:prstGeom prst="roundRect">
            <a:avLst/>
          </a:prstGeom>
          <a:solidFill>
            <a:srgbClr val="FBF7EF"/>
          </a:solidFill>
          <a:ln w="9525" cap="flat" cmpd="sng" algn="ctr">
            <a:solidFill>
              <a:srgbClr val="D9CBB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pic>
        <p:nvPicPr>
          <p:cNvPr id="70" name="Imagem 69" descr="Vila Nova Agroindustrial">
            <a:extLst>
              <a:ext uri="{FF2B5EF4-FFF2-40B4-BE49-F238E27FC236}">
                <a16:creationId xmlns:a16="http://schemas.microsoft.com/office/drawing/2014/main" id="{13FC352F-859A-13D9-3267-763D9BBAF7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70" t="21482" r="8562" b="22867"/>
          <a:stretch>
            <a:fillRect/>
          </a:stretch>
        </p:blipFill>
        <p:spPr>
          <a:xfrm>
            <a:off x="9674167" y="76199"/>
            <a:ext cx="2349661" cy="902826"/>
          </a:xfrm>
          <a:prstGeom prst="rect">
            <a:avLst/>
          </a:prstGeom>
        </p:spPr>
      </p:pic>
      <p:sp>
        <p:nvSpPr>
          <p:cNvPr id="72" name="Elipse 71">
            <a:extLst>
              <a:ext uri="{FF2B5EF4-FFF2-40B4-BE49-F238E27FC236}">
                <a16:creationId xmlns:a16="http://schemas.microsoft.com/office/drawing/2014/main" id="{B2DAB282-81DB-4B31-881D-D9A77ED90F71}"/>
              </a:ext>
            </a:extLst>
          </p:cNvPr>
          <p:cNvSpPr/>
          <p:nvPr/>
        </p:nvSpPr>
        <p:spPr>
          <a:xfrm>
            <a:off x="4102100" y="4559300"/>
            <a:ext cx="228600" cy="228600"/>
          </a:xfrm>
          <a:prstGeom prst="ellipse">
            <a:avLst/>
          </a:prstGeom>
          <a:solidFill>
            <a:srgbClr val="003B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l"/>
            <a:r>
              <a:rPr lang="pt-BR" sz="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34FA5100-1504-4F6C-8CD1-E71E1ABEB4EB}"/>
              </a:ext>
            </a:extLst>
          </p:cNvPr>
          <p:cNvSpPr txBox="1"/>
          <p:nvPr/>
        </p:nvSpPr>
        <p:spPr>
          <a:xfrm>
            <a:off x="4406900" y="4464050"/>
            <a:ext cx="129532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pt-BR" sz="750" b="1" dirty="0">
                <a:solidFill>
                  <a:srgbClr val="111111"/>
                </a:solidFill>
                <a:latin typeface="Arial"/>
                <a:cs typeface="Arial"/>
              </a:rPr>
              <a:t>Pesagem
na balança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400FEAE6-6DB9-4A81-94E2-24F1D4C17225}"/>
              </a:ext>
            </a:extLst>
          </p:cNvPr>
          <p:cNvSpPr/>
          <p:nvPr/>
        </p:nvSpPr>
        <p:spPr>
          <a:xfrm>
            <a:off x="6121400" y="4559300"/>
            <a:ext cx="228600" cy="228600"/>
          </a:xfrm>
          <a:prstGeom prst="ellipse">
            <a:avLst/>
          </a:prstGeom>
          <a:solidFill>
            <a:srgbClr val="003B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l"/>
            <a:r>
              <a:rPr lang="pt-BR" sz="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907A1B07-8029-4991-8C9A-FFBEB435A739}"/>
              </a:ext>
            </a:extLst>
          </p:cNvPr>
          <p:cNvSpPr txBox="1"/>
          <p:nvPr/>
        </p:nvSpPr>
        <p:spPr>
          <a:xfrm>
            <a:off x="6426200" y="4464050"/>
            <a:ext cx="1371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pt-BR" sz="750" b="1">
                <a:solidFill>
                  <a:srgbClr val="111111"/>
                </a:solidFill>
                <a:latin typeface="Arial"/>
                <a:cs typeface="Arial"/>
              </a:rPr>
              <a:t>Registro no app
no campo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4B19D551-9140-488E-9AE3-45DAC669C37E}"/>
              </a:ext>
            </a:extLst>
          </p:cNvPr>
          <p:cNvSpPr/>
          <p:nvPr/>
        </p:nvSpPr>
        <p:spPr>
          <a:xfrm>
            <a:off x="8140700" y="4559300"/>
            <a:ext cx="228600" cy="228600"/>
          </a:xfrm>
          <a:prstGeom prst="ellipse">
            <a:avLst/>
          </a:prstGeom>
          <a:solidFill>
            <a:srgbClr val="003B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l"/>
            <a:r>
              <a:rPr lang="pt-BR" sz="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B2385DB0-45BB-4C86-8D67-BDF92564527A}"/>
              </a:ext>
            </a:extLst>
          </p:cNvPr>
          <p:cNvSpPr txBox="1"/>
          <p:nvPr/>
        </p:nvSpPr>
        <p:spPr>
          <a:xfrm>
            <a:off x="8445500" y="4464050"/>
            <a:ext cx="1371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pt-BR" sz="750" b="1">
                <a:solidFill>
                  <a:srgbClr val="111111"/>
                </a:solidFill>
                <a:latin typeface="Arial"/>
                <a:cs typeface="Arial"/>
              </a:rPr>
              <a:t>Retorno
à indústria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E84E9D09-A216-4A8F-9650-375B13CE3D8E}"/>
              </a:ext>
            </a:extLst>
          </p:cNvPr>
          <p:cNvSpPr/>
          <p:nvPr/>
        </p:nvSpPr>
        <p:spPr>
          <a:xfrm>
            <a:off x="10160000" y="4559300"/>
            <a:ext cx="228600" cy="228600"/>
          </a:xfrm>
          <a:prstGeom prst="ellipse">
            <a:avLst/>
          </a:prstGeom>
          <a:solidFill>
            <a:srgbClr val="003B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l"/>
            <a:r>
              <a:rPr lang="pt-BR" sz="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906AFA3C-89E5-43B0-B6C2-010B8A4A57F5}"/>
              </a:ext>
            </a:extLst>
          </p:cNvPr>
          <p:cNvSpPr txBox="1"/>
          <p:nvPr/>
        </p:nvSpPr>
        <p:spPr>
          <a:xfrm>
            <a:off x="10464800" y="4464050"/>
            <a:ext cx="1041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pt-BR" sz="750" b="1">
                <a:solidFill>
                  <a:srgbClr val="111111"/>
                </a:solidFill>
                <a:latin typeface="Arial"/>
                <a:cs typeface="Arial"/>
              </a:rPr>
              <a:t>Dashboard
e análise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C08B71F5-FF83-4F18-A752-241585385910}"/>
              </a:ext>
            </a:extLst>
          </p:cNvPr>
          <p:cNvSpPr txBox="1"/>
          <p:nvPr/>
        </p:nvSpPr>
        <p:spPr>
          <a:xfrm>
            <a:off x="5829300" y="4527550"/>
            <a:ext cx="22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pt-BR" sz="1100">
                <a:solidFill>
                  <a:srgbClr val="F15A24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9CC0FDC8-C372-453B-B852-B43E9684F714}"/>
              </a:ext>
            </a:extLst>
          </p:cNvPr>
          <p:cNvSpPr txBox="1"/>
          <p:nvPr/>
        </p:nvSpPr>
        <p:spPr>
          <a:xfrm>
            <a:off x="7848600" y="4527550"/>
            <a:ext cx="22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pt-BR" sz="1100">
                <a:solidFill>
                  <a:srgbClr val="F15A24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BFDDB69A-46C9-4A15-B87C-59B808D33E4F}"/>
              </a:ext>
            </a:extLst>
          </p:cNvPr>
          <p:cNvSpPr txBox="1"/>
          <p:nvPr/>
        </p:nvSpPr>
        <p:spPr>
          <a:xfrm>
            <a:off x="9867900" y="4527550"/>
            <a:ext cx="22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pt-BR" sz="1100">
                <a:solidFill>
                  <a:srgbClr val="F15A24"/>
                </a:solidFill>
                <a:latin typeface="Arial"/>
                <a:cs typeface="Arial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441588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E47CCA-7725-4907-AAAD-1476819F464E}">
  <we:reference id="wa200010215" version="2.0.0.0" store="pt-BR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064FB9-3307-4FA9-8712-5618FBB77B27}">
  <we:reference id="wa200010725" version="1.0.0.1" store="pt-BR" storeType="OMEX"/>
  <we:alternateReferences>
    <we:reference id="wa200010725" version="1.0.0.1" store="wa200010725" storeType="OMEX"/>
  </we:alternateReferences>
  <we:properties>
    <we:property name="claude.fileId" value="&quot;501a1b8d-908f-4225-9270-710b3b51eca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251</Words>
  <Application>Microsoft Office PowerPoint</Application>
  <PresentationFormat>Widescreen</PresentationFormat>
  <Paragraphs>53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Arial</vt:lpstr>
      <vt:lpstr>Helvetica Neue</vt:lpstr>
      <vt:lpstr>Office Theme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Thalissom Vinicius</cp:lastModifiedBy>
  <cp:revision>2</cp:revision>
  <dcterms:created xsi:type="dcterms:W3CDTF">2013-01-27T09:14:16Z</dcterms:created>
  <dcterms:modified xsi:type="dcterms:W3CDTF">2026-07-03T09:42:55Z</dcterms:modified>
  <cp:category/>
</cp:coreProperties>
</file>